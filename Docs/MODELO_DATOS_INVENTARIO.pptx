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86" d="100"/>
          <a:sy n="86" d="100"/>
        </p:scale>
        <p:origin x="654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DBA0FF-ACFD-42C9-A4A3-E9ECDB2288AD}" type="datetimeFigureOut">
              <a:rPr lang="en-US" smtClean="0"/>
              <a:t>9/24/2020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F1A0F-EF39-42ED-8DDC-A98A7EE806D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070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DBA0FF-ACFD-42C9-A4A3-E9ECDB2288AD}" type="datetimeFigureOut">
              <a:rPr lang="en-US" smtClean="0"/>
              <a:t>9/24/2020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F1A0F-EF39-42ED-8DDC-A98A7EE806D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87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DBA0FF-ACFD-42C9-A4A3-E9ECDB2288AD}" type="datetimeFigureOut">
              <a:rPr lang="en-US" smtClean="0"/>
              <a:t>9/24/2020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F1A0F-EF39-42ED-8DDC-A98A7EE806D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6526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DBA0FF-ACFD-42C9-A4A3-E9ECDB2288AD}" type="datetimeFigureOut">
              <a:rPr lang="en-US" smtClean="0"/>
              <a:t>9/24/2020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F1A0F-EF39-42ED-8DDC-A98A7EE806D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446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DBA0FF-ACFD-42C9-A4A3-E9ECDB2288AD}" type="datetimeFigureOut">
              <a:rPr lang="en-US" smtClean="0"/>
              <a:t>9/24/2020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F1A0F-EF39-42ED-8DDC-A98A7EE806D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981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DBA0FF-ACFD-42C9-A4A3-E9ECDB2288AD}" type="datetimeFigureOut">
              <a:rPr lang="en-US" smtClean="0"/>
              <a:t>9/24/2020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F1A0F-EF39-42ED-8DDC-A98A7EE806D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150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DBA0FF-ACFD-42C9-A4A3-E9ECDB2288AD}" type="datetimeFigureOut">
              <a:rPr lang="en-US" smtClean="0"/>
              <a:t>9/24/2020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F1A0F-EF39-42ED-8DDC-A98A7EE806D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3825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DBA0FF-ACFD-42C9-A4A3-E9ECDB2288AD}" type="datetimeFigureOut">
              <a:rPr lang="en-US" smtClean="0"/>
              <a:t>9/24/2020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F1A0F-EF39-42ED-8DDC-A98A7EE806D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456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DBA0FF-ACFD-42C9-A4A3-E9ECDB2288AD}" type="datetimeFigureOut">
              <a:rPr lang="en-US" smtClean="0"/>
              <a:t>9/24/2020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F1A0F-EF39-42ED-8DDC-A98A7EE806D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91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DBA0FF-ACFD-42C9-A4A3-E9ECDB2288AD}" type="datetimeFigureOut">
              <a:rPr lang="en-US" smtClean="0"/>
              <a:t>9/24/2020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F1A0F-EF39-42ED-8DDC-A98A7EE806D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1650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DBA0FF-ACFD-42C9-A4A3-E9ECDB2288AD}" type="datetimeFigureOut">
              <a:rPr lang="en-US" smtClean="0"/>
              <a:t>9/24/2020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F1A0F-EF39-42ED-8DDC-A98A7EE806D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621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DBA0FF-ACFD-42C9-A4A3-E9ECDB2288AD}" type="datetimeFigureOut">
              <a:rPr lang="en-US" smtClean="0"/>
              <a:t>9/24/2020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7F1A0F-EF39-42ED-8DDC-A98A7EE806D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16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s-MX" b="1" dirty="0">
                <a:latin typeface="Century Gothic" panose="020B0502020202020204" pitchFamily="34" charset="0"/>
              </a:rPr>
              <a:t>[ER]</a:t>
            </a:r>
            <a:r>
              <a:rPr lang="es-MX" dirty="0">
                <a:latin typeface="Century Gothic" panose="020B0502020202020204" pitchFamily="34" charset="0"/>
              </a:rPr>
              <a:t> Modelo de Datos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endParaRPr lang="es-MX" sz="2200" dirty="0">
              <a:latin typeface="Century Gothic" panose="020B0502020202020204" pitchFamily="34" charset="0"/>
            </a:endParaRPr>
          </a:p>
          <a:p>
            <a:endParaRPr lang="es-MX" sz="2200" dirty="0">
              <a:latin typeface="Century Gothic" panose="020B0502020202020204" pitchFamily="34" charset="0"/>
            </a:endParaRPr>
          </a:p>
          <a:p>
            <a:endParaRPr lang="es-MX" sz="2200" dirty="0">
              <a:latin typeface="Century Gothic" panose="020B0502020202020204" pitchFamily="34" charset="0"/>
            </a:endParaRPr>
          </a:p>
          <a:p>
            <a:r>
              <a:rPr lang="en-US" sz="1800" dirty="0">
                <a:latin typeface="Century Gothic" panose="020B0502020202020204" pitchFamily="34" charset="0"/>
              </a:rPr>
              <a:t>FLUJO DE APRTOVACIONES</a:t>
            </a:r>
            <a:endParaRPr lang="es-MX" sz="1800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06151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69258"/>
          </a:xfrm>
        </p:spPr>
        <p:txBody>
          <a:bodyPr>
            <a:normAutofit fontScale="90000"/>
          </a:bodyPr>
          <a:lstStyle/>
          <a:p>
            <a:pPr algn="ctr"/>
            <a:br>
              <a:rPr lang="es-MX" sz="2000" dirty="0">
                <a:solidFill>
                  <a:srgbClr val="92D050"/>
                </a:solidFill>
                <a:latin typeface="Century Gothic" panose="020B0502020202020204" pitchFamily="34" charset="0"/>
              </a:rPr>
            </a:br>
            <a:r>
              <a:rPr lang="es-MX" dirty="0">
                <a:solidFill>
                  <a:srgbClr val="92D050"/>
                </a:solidFill>
                <a:latin typeface="Century Gothic" panose="020B0502020202020204" pitchFamily="34" charset="0"/>
              </a:rPr>
              <a:t>MODELO DE DATOS INVENTARIO</a:t>
            </a:r>
            <a:endParaRPr lang="es-MX" dirty="0">
              <a:solidFill>
                <a:srgbClr val="92D050"/>
              </a:solidFill>
            </a:endParaRPr>
          </a:p>
        </p:txBody>
      </p:sp>
      <p:sp>
        <p:nvSpPr>
          <p:cNvPr id="37" name="Rectangle 132"/>
          <p:cNvSpPr/>
          <p:nvPr/>
        </p:nvSpPr>
        <p:spPr>
          <a:xfrm>
            <a:off x="3451629" y="2373020"/>
            <a:ext cx="1583408" cy="444657"/>
          </a:xfrm>
          <a:prstGeom prst="rect">
            <a:avLst/>
          </a:prstGeom>
          <a:solidFill>
            <a:schemeClr val="bg1"/>
          </a:solidFill>
          <a:ln w="12700"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b="1" dirty="0">
                <a:solidFill>
                  <a:srgbClr val="C00000"/>
                </a:solidFill>
              </a:rPr>
              <a:t>INVENTARIO</a:t>
            </a:r>
          </a:p>
          <a:p>
            <a:pPr algn="ctr"/>
            <a:endParaRPr lang="es-MX" sz="1050" b="1" dirty="0">
              <a:solidFill>
                <a:srgbClr val="C00000"/>
              </a:solidFill>
            </a:endParaRPr>
          </a:p>
        </p:txBody>
      </p:sp>
      <p:sp>
        <p:nvSpPr>
          <p:cNvPr id="141" name="CuadroTexto 140"/>
          <p:cNvSpPr txBox="1"/>
          <p:nvPr/>
        </p:nvSpPr>
        <p:spPr>
          <a:xfrm>
            <a:off x="10022816" y="17489"/>
            <a:ext cx="21691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b="1" dirty="0">
                <a:solidFill>
                  <a:srgbClr val="FF0000"/>
                </a:solidFill>
              </a:rPr>
              <a:t>BORRADOR</a:t>
            </a:r>
          </a:p>
        </p:txBody>
      </p:sp>
      <p:sp>
        <p:nvSpPr>
          <p:cNvPr id="28" name="Rectangle 132"/>
          <p:cNvSpPr/>
          <p:nvPr/>
        </p:nvSpPr>
        <p:spPr>
          <a:xfrm>
            <a:off x="430172" y="738888"/>
            <a:ext cx="2229265" cy="3891677"/>
          </a:xfrm>
          <a:prstGeom prst="rect">
            <a:avLst/>
          </a:prstGeom>
          <a:solidFill>
            <a:schemeClr val="bg1"/>
          </a:solidFill>
          <a:ln w="635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b="1" dirty="0">
                <a:solidFill>
                  <a:prstClr val="black"/>
                </a:solidFill>
              </a:rPr>
              <a:t>CAMPOS:</a:t>
            </a:r>
          </a:p>
          <a:p>
            <a:r>
              <a:rPr lang="es-MX" sz="1050" b="1" dirty="0">
                <a:solidFill>
                  <a:prstClr val="black"/>
                </a:solidFill>
              </a:rPr>
              <a:t>(PK) K_INVENTARIO	(IDENTITY)</a:t>
            </a:r>
          </a:p>
          <a:p>
            <a:r>
              <a:rPr lang="es-MX" sz="1050" b="1" dirty="0">
                <a:solidFill>
                  <a:prstClr val="black"/>
                </a:solidFill>
              </a:rPr>
              <a:t>(FK) K_ITEM</a:t>
            </a:r>
          </a:p>
          <a:p>
            <a:r>
              <a:rPr lang="es-MX" sz="1050" b="1" dirty="0">
                <a:solidFill>
                  <a:prstClr val="black"/>
                </a:solidFill>
              </a:rPr>
              <a:t>(FK) K_FOLIO</a:t>
            </a:r>
          </a:p>
          <a:p>
            <a:r>
              <a:rPr lang="es-MX" sz="1050" b="1" dirty="0">
                <a:solidFill>
                  <a:prstClr val="black"/>
                </a:solidFill>
              </a:rPr>
              <a:t>(FK) K_CLASIFICACION (DATA_02)</a:t>
            </a:r>
          </a:p>
          <a:p>
            <a:r>
              <a:rPr lang="es-MX" sz="1050" b="1" dirty="0">
                <a:solidFill>
                  <a:srgbClr val="00B050"/>
                </a:solidFill>
              </a:rPr>
              <a:t>	 DEFAULT EN 0</a:t>
            </a:r>
          </a:p>
          <a:p>
            <a:r>
              <a:rPr lang="es-MX" sz="1050" b="1" dirty="0">
                <a:solidFill>
                  <a:prstClr val="black"/>
                </a:solidFill>
              </a:rPr>
              <a:t>(FK) K_STATUS (CREAR DATA_02)</a:t>
            </a:r>
          </a:p>
          <a:p>
            <a:endParaRPr lang="es-MX" sz="1050" b="1" dirty="0">
              <a:solidFill>
                <a:srgbClr val="00B050"/>
              </a:solidFill>
            </a:endParaRPr>
          </a:p>
          <a:p>
            <a:r>
              <a:rPr lang="es-MX" sz="1050" b="1" dirty="0">
                <a:solidFill>
                  <a:srgbClr val="00B050"/>
                </a:solidFill>
              </a:rPr>
              <a:t>K_ORDEN_COMPRA_PEDIDO (PEDIDO)</a:t>
            </a:r>
          </a:p>
          <a:p>
            <a:r>
              <a:rPr lang="es-MX" sz="1050" b="1" dirty="0">
                <a:solidFill>
                  <a:srgbClr val="00B050"/>
                </a:solidFill>
              </a:rPr>
              <a:t>K_ENTREGA (RECIBO)</a:t>
            </a:r>
          </a:p>
          <a:p>
            <a:endParaRPr lang="es-MX" sz="1050" b="1" dirty="0">
              <a:solidFill>
                <a:srgbClr val="00B050"/>
              </a:solidFill>
            </a:endParaRPr>
          </a:p>
          <a:p>
            <a:r>
              <a:rPr lang="es-MX" sz="1050" b="1" dirty="0">
                <a:solidFill>
                  <a:srgbClr val="00B050"/>
                </a:solidFill>
              </a:rPr>
              <a:t>LOTE PROVEEDOR</a:t>
            </a:r>
          </a:p>
          <a:p>
            <a:r>
              <a:rPr lang="es-MX" sz="1050" b="1" dirty="0">
                <a:solidFill>
                  <a:srgbClr val="00B050"/>
                </a:solidFill>
              </a:rPr>
              <a:t>LOTE PEARL</a:t>
            </a:r>
          </a:p>
          <a:p>
            <a:r>
              <a:rPr lang="es-MX" sz="1050" b="1" dirty="0">
                <a:solidFill>
                  <a:srgbClr val="00B050"/>
                </a:solidFill>
              </a:rPr>
              <a:t>CONSECUTIVO (SE ASIGNA POR LOTES)</a:t>
            </a:r>
          </a:p>
          <a:p>
            <a:endParaRPr lang="es-MX" sz="1050" b="1" dirty="0">
              <a:solidFill>
                <a:srgbClr val="00B050"/>
              </a:solidFill>
            </a:endParaRPr>
          </a:p>
          <a:p>
            <a:r>
              <a:rPr lang="es-MX" sz="1050" b="1" dirty="0">
                <a:solidFill>
                  <a:srgbClr val="00B050"/>
                </a:solidFill>
              </a:rPr>
              <a:t>CANTIDAD RECIBIDA</a:t>
            </a:r>
          </a:p>
          <a:p>
            <a:endParaRPr lang="es-MX" sz="1050" b="1" dirty="0">
              <a:solidFill>
                <a:srgbClr val="00B050"/>
              </a:solidFill>
            </a:endParaRPr>
          </a:p>
          <a:p>
            <a:endParaRPr lang="es-MX" sz="1050" b="1" dirty="0">
              <a:solidFill>
                <a:srgbClr val="00B050"/>
              </a:solidFill>
            </a:endParaRPr>
          </a:p>
          <a:p>
            <a:r>
              <a:rPr lang="es-MX" sz="1050" b="1" dirty="0">
                <a:solidFill>
                  <a:srgbClr val="00B050"/>
                </a:solidFill>
              </a:rPr>
              <a:t>K_USUARIO</a:t>
            </a:r>
          </a:p>
          <a:p>
            <a:r>
              <a:rPr lang="es-MX" sz="1050" b="1" dirty="0">
                <a:solidFill>
                  <a:srgbClr val="00B050"/>
                </a:solidFill>
              </a:rPr>
              <a:t>F_INVENTARIO</a:t>
            </a:r>
          </a:p>
        </p:txBody>
      </p:sp>
      <p:sp>
        <p:nvSpPr>
          <p:cNvPr id="31" name="Rectangle 132"/>
          <p:cNvSpPr/>
          <p:nvPr/>
        </p:nvSpPr>
        <p:spPr>
          <a:xfrm>
            <a:off x="6260772" y="2392406"/>
            <a:ext cx="1583408" cy="444657"/>
          </a:xfrm>
          <a:prstGeom prst="rect">
            <a:avLst/>
          </a:prstGeom>
          <a:solidFill>
            <a:schemeClr val="bg1"/>
          </a:solidFill>
          <a:ln w="12700"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b="1" dirty="0">
                <a:solidFill>
                  <a:srgbClr val="C00000"/>
                </a:solidFill>
              </a:rPr>
              <a:t>INVENTARIO_LOCACION</a:t>
            </a:r>
          </a:p>
          <a:p>
            <a:pPr algn="ctr"/>
            <a:endParaRPr lang="es-MX" sz="1050" b="1" dirty="0">
              <a:solidFill>
                <a:srgbClr val="C00000"/>
              </a:solidFill>
            </a:endParaRPr>
          </a:p>
        </p:txBody>
      </p:sp>
      <p:sp>
        <p:nvSpPr>
          <p:cNvPr id="32" name="Rectangle 132"/>
          <p:cNvSpPr/>
          <p:nvPr/>
        </p:nvSpPr>
        <p:spPr>
          <a:xfrm>
            <a:off x="3451508" y="3631104"/>
            <a:ext cx="1583408" cy="444657"/>
          </a:xfrm>
          <a:prstGeom prst="rect">
            <a:avLst/>
          </a:prstGeom>
          <a:solidFill>
            <a:schemeClr val="bg1"/>
          </a:solidFill>
          <a:ln w="12700"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b="1" dirty="0">
                <a:solidFill>
                  <a:srgbClr val="C00000"/>
                </a:solidFill>
              </a:rPr>
              <a:t>FOLIO</a:t>
            </a:r>
          </a:p>
          <a:p>
            <a:pPr algn="ctr"/>
            <a:endParaRPr lang="es-MX" sz="1050" b="1" dirty="0">
              <a:solidFill>
                <a:srgbClr val="C00000"/>
              </a:solidFill>
            </a:endParaRPr>
          </a:p>
        </p:txBody>
      </p:sp>
      <p:sp>
        <p:nvSpPr>
          <p:cNvPr id="33" name="Rectangle 132"/>
          <p:cNvSpPr/>
          <p:nvPr/>
        </p:nvSpPr>
        <p:spPr>
          <a:xfrm>
            <a:off x="7924690" y="1428002"/>
            <a:ext cx="2081914" cy="1731930"/>
          </a:xfrm>
          <a:prstGeom prst="rect">
            <a:avLst/>
          </a:prstGeom>
          <a:solidFill>
            <a:schemeClr val="bg1"/>
          </a:solidFill>
          <a:ln w="635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b="1" dirty="0">
                <a:solidFill>
                  <a:prstClr val="black"/>
                </a:solidFill>
              </a:rPr>
              <a:t>CAMPOS:</a:t>
            </a:r>
          </a:p>
          <a:p>
            <a:r>
              <a:rPr lang="es-MX" sz="1050" b="1" dirty="0">
                <a:solidFill>
                  <a:prstClr val="black"/>
                </a:solidFill>
              </a:rPr>
              <a:t>(PK) K_INVENTARIO_LOCACION</a:t>
            </a:r>
          </a:p>
          <a:p>
            <a:r>
              <a:rPr lang="es-MX" sz="1050" b="1" dirty="0">
                <a:solidFill>
                  <a:prstClr val="black"/>
                </a:solidFill>
              </a:rPr>
              <a:t>(FK) K_LOCACION</a:t>
            </a:r>
          </a:p>
          <a:p>
            <a:r>
              <a:rPr lang="es-MX" sz="1050" b="1" dirty="0">
                <a:solidFill>
                  <a:prstClr val="black"/>
                </a:solidFill>
              </a:rPr>
              <a:t>(FK) K_MATERIAL</a:t>
            </a:r>
          </a:p>
          <a:p>
            <a:r>
              <a:rPr lang="es-MX" sz="1050" b="1" dirty="0">
                <a:solidFill>
                  <a:srgbClr val="00B050"/>
                </a:solidFill>
              </a:rPr>
              <a:t>LOTE</a:t>
            </a:r>
          </a:p>
          <a:p>
            <a:r>
              <a:rPr lang="es-MX" sz="1050" b="1" dirty="0">
                <a:solidFill>
                  <a:srgbClr val="00B050"/>
                </a:solidFill>
              </a:rPr>
              <a:t>CANTIDAD_DISPONIBLE</a:t>
            </a:r>
          </a:p>
          <a:p>
            <a:r>
              <a:rPr lang="es-MX" sz="1050" b="1" dirty="0">
                <a:solidFill>
                  <a:srgbClr val="00B050"/>
                </a:solidFill>
              </a:rPr>
              <a:t>CANTIDAD_MAXIMA</a:t>
            </a:r>
          </a:p>
          <a:p>
            <a:r>
              <a:rPr lang="es-MX" sz="1050" b="1" dirty="0">
                <a:solidFill>
                  <a:srgbClr val="00B050"/>
                </a:solidFill>
              </a:rPr>
              <a:t>CANTIDAD_MINIMA</a:t>
            </a:r>
          </a:p>
          <a:p>
            <a:r>
              <a:rPr lang="es-MX" sz="1050" b="1" dirty="0">
                <a:solidFill>
                  <a:srgbClr val="00B050"/>
                </a:solidFill>
              </a:rPr>
              <a:t>K_USUARIO_ACTUALIZACION</a:t>
            </a:r>
          </a:p>
          <a:p>
            <a:r>
              <a:rPr lang="es-MX" sz="1050" b="1" dirty="0">
                <a:solidFill>
                  <a:srgbClr val="00B050"/>
                </a:solidFill>
              </a:rPr>
              <a:t>F_ACTUALIZACION</a:t>
            </a:r>
          </a:p>
        </p:txBody>
      </p:sp>
      <p:sp>
        <p:nvSpPr>
          <p:cNvPr id="36" name="Rectangle 132"/>
          <p:cNvSpPr/>
          <p:nvPr/>
        </p:nvSpPr>
        <p:spPr>
          <a:xfrm>
            <a:off x="2979124" y="4159576"/>
            <a:ext cx="2081914" cy="1119790"/>
          </a:xfrm>
          <a:prstGeom prst="rect">
            <a:avLst/>
          </a:prstGeom>
          <a:solidFill>
            <a:schemeClr val="bg1"/>
          </a:solidFill>
          <a:ln w="635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b="1" dirty="0">
                <a:solidFill>
                  <a:prstClr val="black"/>
                </a:solidFill>
              </a:rPr>
              <a:t>CAMPOS:</a:t>
            </a:r>
          </a:p>
          <a:p>
            <a:r>
              <a:rPr lang="es-MX" sz="1050" b="1" dirty="0">
                <a:solidFill>
                  <a:prstClr val="black"/>
                </a:solidFill>
              </a:rPr>
              <a:t>(PK) K_FOLIO (IDENTITY)</a:t>
            </a:r>
          </a:p>
          <a:p>
            <a:endParaRPr lang="es-MX" sz="1050" b="1" dirty="0">
              <a:solidFill>
                <a:prstClr val="black"/>
              </a:solidFill>
            </a:endParaRPr>
          </a:p>
          <a:p>
            <a:r>
              <a:rPr lang="es-MX" sz="1050" b="1" dirty="0">
                <a:solidFill>
                  <a:prstClr val="black"/>
                </a:solidFill>
              </a:rPr>
              <a:t>(FK) K_LOCACION</a:t>
            </a:r>
          </a:p>
          <a:p>
            <a:endParaRPr lang="es-MX" sz="1050" b="1" dirty="0">
              <a:solidFill>
                <a:prstClr val="black"/>
              </a:solidFill>
            </a:endParaRPr>
          </a:p>
          <a:p>
            <a:r>
              <a:rPr lang="es-MX" sz="1050" b="1" dirty="0">
                <a:solidFill>
                  <a:prstClr val="black"/>
                </a:solidFill>
              </a:rPr>
              <a:t>(FK) K_ORDEN_TRABAJO</a:t>
            </a:r>
          </a:p>
          <a:p>
            <a:r>
              <a:rPr lang="es-MX" sz="1050" b="1" dirty="0">
                <a:solidFill>
                  <a:srgbClr val="00B050"/>
                </a:solidFill>
              </a:rPr>
              <a:t>TIPO (B)</a:t>
            </a:r>
          </a:p>
          <a:p>
            <a:r>
              <a:rPr lang="es-MX" sz="1050" b="1" dirty="0">
                <a:solidFill>
                  <a:srgbClr val="00B050"/>
                </a:solidFill>
              </a:rPr>
              <a:t>F_FOLIO</a:t>
            </a:r>
          </a:p>
          <a:p>
            <a:r>
              <a:rPr lang="es-MX" sz="1050" b="1" dirty="0">
                <a:solidFill>
                  <a:srgbClr val="00B050"/>
                </a:solidFill>
              </a:rPr>
              <a:t>K_USUARIO</a:t>
            </a:r>
          </a:p>
        </p:txBody>
      </p:sp>
      <p:cxnSp>
        <p:nvCxnSpPr>
          <p:cNvPr id="38" name="Shape 33"/>
          <p:cNvCxnSpPr>
            <a:stCxn id="37" idx="2"/>
            <a:endCxn id="32" idx="0"/>
          </p:cNvCxnSpPr>
          <p:nvPr/>
        </p:nvCxnSpPr>
        <p:spPr>
          <a:xfrm flipH="1">
            <a:off x="4243212" y="2817677"/>
            <a:ext cx="121" cy="81342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132"/>
          <p:cNvSpPr/>
          <p:nvPr/>
        </p:nvSpPr>
        <p:spPr>
          <a:xfrm>
            <a:off x="5969443" y="3623056"/>
            <a:ext cx="1871869" cy="444657"/>
          </a:xfrm>
          <a:prstGeom prst="rect">
            <a:avLst/>
          </a:prstGeom>
          <a:solidFill>
            <a:schemeClr val="bg1"/>
          </a:solidFill>
          <a:ln w="12700"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b="1" dirty="0">
                <a:solidFill>
                  <a:srgbClr val="C00000"/>
                </a:solidFill>
              </a:rPr>
              <a:t>INVENTARIO_MOVIMIENTO</a:t>
            </a:r>
          </a:p>
          <a:p>
            <a:pPr algn="ctr"/>
            <a:endParaRPr lang="es-MX" sz="1050" b="1" dirty="0">
              <a:solidFill>
                <a:srgbClr val="C00000"/>
              </a:solidFill>
            </a:endParaRPr>
          </a:p>
        </p:txBody>
      </p:sp>
      <p:cxnSp>
        <p:nvCxnSpPr>
          <p:cNvPr id="40" name="Shape 33"/>
          <p:cNvCxnSpPr>
            <a:stCxn id="32" idx="0"/>
            <a:endCxn id="31" idx="1"/>
          </p:cNvCxnSpPr>
          <p:nvPr/>
        </p:nvCxnSpPr>
        <p:spPr>
          <a:xfrm flipV="1">
            <a:off x="4243212" y="2614735"/>
            <a:ext cx="2017560" cy="101636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hape 33"/>
          <p:cNvCxnSpPr>
            <a:stCxn id="32" idx="3"/>
            <a:endCxn id="39" idx="1"/>
          </p:cNvCxnSpPr>
          <p:nvPr/>
        </p:nvCxnSpPr>
        <p:spPr>
          <a:xfrm flipV="1">
            <a:off x="5034916" y="3845385"/>
            <a:ext cx="934527" cy="804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132"/>
          <p:cNvSpPr/>
          <p:nvPr/>
        </p:nvSpPr>
        <p:spPr>
          <a:xfrm>
            <a:off x="7930448" y="3383236"/>
            <a:ext cx="2081914" cy="2303886"/>
          </a:xfrm>
          <a:prstGeom prst="rect">
            <a:avLst/>
          </a:prstGeom>
          <a:solidFill>
            <a:schemeClr val="bg1"/>
          </a:solidFill>
          <a:ln w="635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b="1" dirty="0">
                <a:solidFill>
                  <a:prstClr val="black"/>
                </a:solidFill>
              </a:rPr>
              <a:t>CAMPOS:</a:t>
            </a:r>
          </a:p>
          <a:p>
            <a:r>
              <a:rPr lang="es-MX" sz="1050" b="1" dirty="0">
                <a:solidFill>
                  <a:prstClr val="black"/>
                </a:solidFill>
              </a:rPr>
              <a:t>(PK) K_TRANSACCION</a:t>
            </a:r>
          </a:p>
          <a:p>
            <a:r>
              <a:rPr lang="es-MX" sz="1050" b="1" dirty="0">
                <a:solidFill>
                  <a:prstClr val="black"/>
                </a:solidFill>
              </a:rPr>
              <a:t>--(FK) K_FOLIO (QUITAR)</a:t>
            </a:r>
          </a:p>
          <a:p>
            <a:r>
              <a:rPr lang="es-MX" sz="1050" b="1" dirty="0">
                <a:solidFill>
                  <a:prstClr val="black"/>
                </a:solidFill>
              </a:rPr>
              <a:t>(FK) K_LOCACION (MHI, MESA)</a:t>
            </a:r>
          </a:p>
          <a:p>
            <a:endParaRPr lang="es-MX" sz="1050" b="1" dirty="0">
              <a:solidFill>
                <a:prstClr val="black"/>
              </a:solidFill>
            </a:endParaRPr>
          </a:p>
          <a:p>
            <a:endParaRPr lang="es-MX" sz="1050" b="1" dirty="0">
              <a:solidFill>
                <a:prstClr val="black"/>
              </a:solidFill>
            </a:endParaRPr>
          </a:p>
          <a:p>
            <a:r>
              <a:rPr lang="es-MX" sz="1050" b="1" dirty="0">
                <a:solidFill>
                  <a:srgbClr val="00B050"/>
                </a:solidFill>
              </a:rPr>
              <a:t>TIPO_TRANSACCION</a:t>
            </a:r>
          </a:p>
          <a:p>
            <a:endParaRPr lang="es-MX" sz="1050" b="1" dirty="0">
              <a:solidFill>
                <a:prstClr val="black"/>
              </a:solidFill>
            </a:endParaRPr>
          </a:p>
          <a:p>
            <a:r>
              <a:rPr lang="es-MX" sz="1050" b="1" dirty="0">
                <a:solidFill>
                  <a:srgbClr val="00B050"/>
                </a:solidFill>
              </a:rPr>
              <a:t>LOTE</a:t>
            </a:r>
          </a:p>
          <a:p>
            <a:r>
              <a:rPr lang="es-MX" sz="1050" b="1" dirty="0">
                <a:solidFill>
                  <a:srgbClr val="00B050"/>
                </a:solidFill>
              </a:rPr>
              <a:t>CANTIDAD</a:t>
            </a:r>
          </a:p>
          <a:p>
            <a:r>
              <a:rPr lang="es-MX" sz="1050" b="1" dirty="0">
                <a:solidFill>
                  <a:srgbClr val="00B050"/>
                </a:solidFill>
              </a:rPr>
              <a:t>CANTIDAD_DISPONIBLE</a:t>
            </a:r>
          </a:p>
          <a:p>
            <a:r>
              <a:rPr lang="es-MX" sz="1050" b="1" dirty="0">
                <a:solidFill>
                  <a:srgbClr val="00B050"/>
                </a:solidFill>
              </a:rPr>
              <a:t>F_TRANSACCION</a:t>
            </a:r>
          </a:p>
          <a:p>
            <a:r>
              <a:rPr lang="es-MX" sz="1050" b="1" dirty="0">
                <a:solidFill>
                  <a:srgbClr val="00B050"/>
                </a:solidFill>
              </a:rPr>
              <a:t>K_USUARIO</a:t>
            </a:r>
          </a:p>
        </p:txBody>
      </p:sp>
      <p:sp>
        <p:nvSpPr>
          <p:cNvPr id="18" name="Rectangle 132">
            <a:extLst>
              <a:ext uri="{FF2B5EF4-FFF2-40B4-BE49-F238E27FC236}">
                <a16:creationId xmlns:a16="http://schemas.microsoft.com/office/drawing/2014/main" id="{D903617F-D06A-4231-BCD4-9C0743DE9719}"/>
              </a:ext>
            </a:extLst>
          </p:cNvPr>
          <p:cNvSpPr/>
          <p:nvPr/>
        </p:nvSpPr>
        <p:spPr>
          <a:xfrm>
            <a:off x="5463575" y="4188988"/>
            <a:ext cx="2081914" cy="2303886"/>
          </a:xfrm>
          <a:prstGeom prst="rect">
            <a:avLst/>
          </a:prstGeom>
          <a:solidFill>
            <a:schemeClr val="bg1"/>
          </a:solidFill>
          <a:ln w="635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b="1" dirty="0">
                <a:solidFill>
                  <a:prstClr val="black"/>
                </a:solidFill>
              </a:rPr>
              <a:t>JUNTAR</a:t>
            </a:r>
          </a:p>
          <a:p>
            <a:pPr algn="ctr"/>
            <a:r>
              <a:rPr lang="es-MX" sz="1050" b="1" dirty="0">
                <a:solidFill>
                  <a:prstClr val="black"/>
                </a:solidFill>
              </a:rPr>
              <a:t>-</a:t>
            </a:r>
            <a:r>
              <a:rPr lang="es-MX" dirty="0"/>
              <a:t>[[</a:t>
            </a:r>
            <a:r>
              <a:rPr lang="es-MX" sz="1050" b="1" dirty="0">
                <a:solidFill>
                  <a:prstClr val="black"/>
                </a:solidFill>
              </a:rPr>
              <a:t>IMLSTRX _SQL]</a:t>
            </a:r>
          </a:p>
          <a:p>
            <a:pPr algn="ctr"/>
            <a:r>
              <a:rPr lang="es-MX" sz="1050" b="1" dirty="0">
                <a:solidFill>
                  <a:prstClr val="black"/>
                </a:solidFill>
              </a:rPr>
              <a:t>- [IMLSTRX_SQL]</a:t>
            </a:r>
          </a:p>
        </p:txBody>
      </p:sp>
    </p:spTree>
    <p:extLst>
      <p:ext uri="{BB962C8B-B14F-4D97-AF65-F5344CB8AC3E}">
        <p14:creationId xmlns:p14="http://schemas.microsoft.com/office/powerpoint/2010/main" val="19494717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239</Words>
  <Application>Microsoft Office PowerPoint</Application>
  <PresentationFormat>Panorámica</PresentationFormat>
  <Paragraphs>66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Century Gothic</vt:lpstr>
      <vt:lpstr>Office Theme</vt:lpstr>
      <vt:lpstr>[ER] Modelo de Datos</vt:lpstr>
      <vt:lpstr> MODELO DE DATOS INVENTARIO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[ER] Modelo de Datos</dc:title>
  <dc:creator>Francisco Esteban</dc:creator>
  <cp:lastModifiedBy>Alejandro de la Rosa</cp:lastModifiedBy>
  <cp:revision>27</cp:revision>
  <dcterms:created xsi:type="dcterms:W3CDTF">2020-01-31T23:02:14Z</dcterms:created>
  <dcterms:modified xsi:type="dcterms:W3CDTF">2020-09-24T20:07:17Z</dcterms:modified>
</cp:coreProperties>
</file>